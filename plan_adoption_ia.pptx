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Les outils sont là — les pratiques ne suivent 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outils existent : GENIAL, Qlik, UiPath — les 5 chantiers sont lancés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pratiques restent inégales d'un bureau à l'autre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Dès que la charge monte, les nouveaux usages disparaissent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74 %</a:t>
            </a:r>
            <a:r>
              <a:rPr b="0"/>
              <a:t> des organisations qui ont les bons outils n'en tirent aucune valeur — le problème est toujours l'adoption, pas la technologie (BCG,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L'outil sans l'usage reste une vitrine — l'usage sans l'outil reste un discours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Embarquer trois niveaux en même temps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autorités utilisent l'IA sur un cas concret → elles savent quoi exiger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chefs de bureau transforment un processus → le gain est mesuré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collaborateurs pratiquent sur leurs tâches dès J+7 → l'usage s'ancre ou 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La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Le haut lance, le terrain prouve, la boucle se ferme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Pour exiger juste, il faut avoir vu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3438144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L'IA réduit des jours d'analyse à quelques heures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Ce gain reste abstrait tant qu'on ne l'a pas constaté soi-même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Sans avoir pratiqué, impossible d'exiger juste ni de juger un résultat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L'amiral Vandier a fait de la formation IA une priorité pour ses officiers au Commandement suprême allié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Les autorités — pourquoi et comment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193792"/>
            <a:ext cx="109118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11111"/>
                </a:solidFill>
                <a:latin typeface="Calibri"/>
              </a:defRPr>
            </a:pPr>
            <a:r>
              <a:rPr b="1"/>
              <a:t>Encadré :</a:t>
            </a:r>
            <a:r>
              <a:rPr b="0"/>
              <a:t> Des experts IA accompagnent chaque autorité individuellement, sur ses sujets, à son rythme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L'autorité qui a pratiqué arbitre mieux — et son exigence devient crédible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C'est le chef de bureau qui décide si l'IA entre dans les habitudes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C'est lui qui lance le mouvement et protège le temps pour pratiquer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Pour s'engager, il doit voir un gain concret sur son propre processus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Kick-off tous chefs de bureau (½ journée) : cadre et attendus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Kick-off 3 bureaux pilotes (½ journée) : choix du processus cible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pilotes sont accompagnés 2h par semaine pendant 6 semaines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Les autres bureaux récupèrent les méthodes et résultats des pilotes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Les chefs de bureau — pourquoi et comment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Quand le chef voit le gain, il protège le temps — et l'usage tient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Ils ont essayé — et ça les a déçus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La plupart ont utilisé l'IA comme un moteur de recherche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Question vague, réponse médiocre, conclusion : l'outil ne marche pas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Le problème n'est pas l'outil — personne ne leur a montré comment s'en servir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Sans formation, chaque mauvais essai renforce le rejet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Les collaborateurs — ce qui 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Le premier essai sans formation est souvent le dernier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Avec la bonne formation, les résultats sont mesurés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3849624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+43 %</a:t>
            </a:r>
            <a:r>
              <a:rPr b="0"/>
              <a:t> de performance pour ceux en difficulté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+17 %</a:t>
            </a:r>
            <a:r>
              <a:rPr b="0"/>
              <a:t> pour ceux déjà bons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+12 %</a:t>
            </a:r>
            <a:r>
              <a:rPr b="0"/>
              <a:t> de tâches accomplies en plus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+25 %</a:t>
            </a:r>
            <a:r>
              <a:rPr b="0"/>
              <a:t> de rapidité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Les collaborateurs — la preuve que ça se résout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05272"/>
            <a:ext cx="1091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(Dell'Acqua et al., Harvard Business School, 2023 — 758 consultants BCG)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La formation fait toute la différence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Une demi-journée pour corriger le premier essai, 6 semaines pour ancrer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Une demi-journée par collaborateur sur son cas réel — avec GENIAL, les mini-apps ou UiPath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L'objectif : un cas réussi dès la première demi-journée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Tous peuvent ensuite suivre une formation de 6 semaines sur Mistral AI (données non sensibles)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0"/>
              <a:t>Résultat collectif : des prompts testés et validés, utilisables dès le lendemain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Les collaborateurs — ce qu'on leur propose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L'agent formé utilise l'outil pour de vrai — pas en démonstration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40080"/>
            <a:ext cx="10911840" cy="960120"/>
          </a:xfrm>
        </p:spPr>
        <p:txBody>
          <a:bodyPr/>
          <a:lstStyle/>
          <a:p>
            <a:pPr>
              <a:defRPr sz="3400" b="1" i="0">
                <a:solidFill>
                  <a:srgbClr val="111111"/>
                </a:solidFill>
                <a:latin typeface="Calibri"/>
              </a:defRPr>
            </a:pPr>
            <a:r>
              <a:t>Tout tient en 3 mois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840" cy="4279392"/>
          </a:xfrm>
        </p:spPr>
        <p:txBody>
          <a:bodyPr wrap="square"/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Semaine 1</a:t>
            </a:r>
            <a:r>
              <a:rPr b="0"/>
              <a:t> — Accompagnement des autorités + kick-off tous chefs de bureau (½ j) + kick-off bureaux pilotes (½ j)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Semaine 2</a:t>
            </a:r>
            <a:r>
              <a:rPr b="0"/>
              <a:t> — Demi-journées collaborateurs sur cas réels + ouverture formation Mistral AI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S2 à S7</a:t>
            </a:r>
            <a:r>
              <a:rPr b="0"/>
              <a:t> — Rendez-vous hebdomadaires bureaux pilotes + formation continue collaborateurs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Mars</a:t>
            </a:r>
            <a:r>
              <a:rPr b="0"/>
              <a:t> — Point de mi-parcours : ce qui ne produit pas d'usage réel est ajusté ou arrêté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  <a:latin typeface="Calibri"/>
              </a:defRPr>
            </a:pPr>
            <a:r>
              <a:rPr b="1"/>
              <a:t>Juin</a:t>
            </a:r>
            <a:r>
              <a:rPr b="0"/>
              <a:t> — Bilan : adoption 70 %, pilotes 2/3, conformité 100 %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1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666666"/>
                </a:solidFill>
                <a:latin typeface="Calibri"/>
              </a:defRPr>
            </a:pPr>
            <a:r>
              <a:t>Le calendrier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1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 i="1">
                <a:solidFill>
                  <a:srgbClr val="1F4E79"/>
                </a:solidFill>
                <a:latin typeface="Calibri"/>
              </a:defRPr>
            </a:pPr>
            <a:r>
              <a:t>Dans 3 mois, l'EMM sait si SIGNAL change le quotidien — avec des faits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